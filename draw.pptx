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1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音 泠" userId="1dadf1852a6446cb" providerId="LiveId" clId="{0EFDACA6-4C46-4928-A990-6988CE62490C}"/>
    <pc:docChg chg="addSld modSld">
      <pc:chgData name="音 泠" userId="1dadf1852a6446cb" providerId="LiveId" clId="{0EFDACA6-4C46-4928-A990-6988CE62490C}" dt="2026-09-25T05:26:49.999" v="38" actId="20577"/>
      <pc:docMkLst>
        <pc:docMk/>
      </pc:docMkLst>
      <pc:sldChg chg="modSp mod">
        <pc:chgData name="音 泠" userId="1dadf1852a6446cb" providerId="LiveId" clId="{0EFDACA6-4C46-4928-A990-6988CE62490C}" dt="2026-09-25T05:26:49.999" v="38" actId="20577"/>
        <pc:sldMkLst>
          <pc:docMk/>
          <pc:sldMk cId="1621023962" sldId="256"/>
        </pc:sldMkLst>
        <pc:spChg chg="mod">
          <ac:chgData name="音 泠" userId="1dadf1852a6446cb" providerId="LiveId" clId="{0EFDACA6-4C46-4928-A990-6988CE62490C}" dt="2026-09-25T05:26:49.999" v="38" actId="20577"/>
          <ac:spMkLst>
            <pc:docMk/>
            <pc:sldMk cId="1621023962" sldId="256"/>
            <ac:spMk id="17" creationId="{BBE0C7F4-CA52-D68B-375F-A58E7201028F}"/>
          </ac:spMkLst>
        </pc:spChg>
        <pc:spChg chg="mod">
          <ac:chgData name="音 泠" userId="1dadf1852a6446cb" providerId="LiveId" clId="{0EFDACA6-4C46-4928-A990-6988CE62490C}" dt="2026-09-25T05:26:42.493" v="32" actId="20577"/>
          <ac:spMkLst>
            <pc:docMk/>
            <pc:sldMk cId="1621023962" sldId="256"/>
            <ac:spMk id="32" creationId="{06FCA656-04BB-F65F-1C55-E14C5684CF99}"/>
          </ac:spMkLst>
        </pc:spChg>
      </pc:sldChg>
      <pc:sldChg chg="addSp modSp new mod">
        <pc:chgData name="音 泠" userId="1dadf1852a6446cb" providerId="LiveId" clId="{0EFDACA6-4C46-4928-A990-6988CE62490C}" dt="2026-09-13T01:55:01.136" v="27" actId="20577"/>
        <pc:sldMkLst>
          <pc:docMk/>
          <pc:sldMk cId="899399818" sldId="258"/>
        </pc:sldMkLst>
        <pc:spChg chg="add mod">
          <ac:chgData name="音 泠" userId="1dadf1852a6446cb" providerId="LiveId" clId="{0EFDACA6-4C46-4928-A990-6988CE62490C}" dt="2026-09-13T01:55:01.136" v="27" actId="20577"/>
          <ac:spMkLst>
            <pc:docMk/>
            <pc:sldMk cId="899399818" sldId="258"/>
            <ac:spMk id="3" creationId="{79E16CEE-8585-B81F-5AC7-F1F3B4E543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621A8-D11D-4A52-9FAC-EDC46475AD2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4695A-C013-42A8-940B-F8C99D909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3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 happen inside RNA-FM?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4695A-C013-42A8-940B-F8C99D909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15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3DA8-8806-202C-8B00-2ED38D4E8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EBD66-1BED-5205-D931-9F7635A84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E7709-9FF2-C3B1-3BE7-CA0F57DD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88E7E-D054-67D8-DE1D-7DA273D3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8906A-2ADD-2DF1-1442-E1C2F7F7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466F-D5D0-0C16-E09C-E2DB77E4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32E3-1380-A4CF-520D-56D9FC33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B96A2-946B-1901-9E4C-32EF4DE8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8CF3E-D12F-C2CA-D0A4-477A3345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61962-0AB8-2BB3-1E20-2BC1ABA0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8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AEE6-BF23-7703-C1BE-2ABFE6A0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A35A5-2677-A5E2-B0A0-0217B081D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1A290-25EE-0345-6989-1D3C9B26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B1C63-8E9E-8B84-FCBC-D7058EB5E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38FCD-0207-9D6A-C23F-4C19108C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C047-11AF-D2B4-FE0B-BCBF1C11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94A8-F23A-2CC2-A9F9-529EB73A5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29EC7-E728-6ECC-A985-C930B7CE8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A6855-E1C2-93CA-3359-AC1C2B6E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71138-0F31-9112-57C1-832947EF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B2991-DA50-CA5D-3E4A-80F89117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2C64-F2BB-EEA0-C238-D8112302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2B761-A7CA-DDE6-52DD-86F57B2EB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30DB6-9A65-14CC-6B29-E78568EF8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D12ED0-E410-C6DD-DEB2-04BBDFBE0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178A0-B289-6EA2-6A39-7DC4F7CC4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ADDD2-C55A-81A7-4B62-A5CC2E69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D49B3-5F47-7B38-7551-CB4637DBE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8E8A4-B81B-DF24-C4C1-0F32391A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4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AFC0-A60F-B5FD-104E-1CD66954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8E1BC-3A6B-A95A-C099-6E6580A2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06205-FAEF-4773-8C62-0A38619A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C13F1-2908-25E0-FBC8-8D55BAB6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0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93AB4-2086-4098-2350-531E4B40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F1049-A459-2BBF-A340-82A0699F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7BB5-AB1E-EFF3-D53C-945608BB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0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E76F-24E2-11F6-6E0B-7CE22810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E1426-58E0-44A4-BFE3-313D144BF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48A7B-7F7D-7832-6445-21ABF4714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4D426-AE72-0D7D-FED5-F560DAE9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C78CC-7617-ADDE-AD74-96E1778C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4921F-A8A0-547D-EC45-70420441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0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A8ED-1B2E-D3E0-530E-AE49C88F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F63D5-1E06-D6E7-07A0-CA5B02AE7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C7F0C-3365-AF11-A470-61147C82B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02071-9D8D-9564-4C13-1E7C3814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7FBAB-7D85-03BB-AC2D-F4F1306A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08E5C-AE14-3134-9B61-20260740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1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42CF-3C04-51C9-A89A-7107667A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C6E3A-ABCF-FD3F-3226-78C6C20C3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34C78-7653-2E4F-D5F6-6F4C0AD6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75750-9DB6-8E61-12EE-87B5C409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5A416-0D76-50FE-6D22-93284357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7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4C44A-88A1-4C1D-B816-A78130D46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E50E0-CEB7-EEC7-5B72-285EAD3F8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E15B3-848E-2D96-5F6A-31D2DD35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669A-A478-2754-F6D4-6B80018F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2DF2-23D9-2F63-D2BD-AFD5C62E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7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5B98C-3F3F-BB38-F46A-C58F4561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737DD-418D-4B40-B08A-0E9CB2EA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283A8-B86F-869C-A292-69A7681DD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C2C42-F726-4B53-97D1-8224E9E4904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68666-2B7D-E253-7F7F-32669CFF8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45299-F9B1-8D07-D50C-483CCDD44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48468-46DD-4701-AD02-B33B83733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3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385DBD-8ABD-E0D7-4E83-1FA6C6076C0C}"/>
              </a:ext>
            </a:extLst>
          </p:cNvPr>
          <p:cNvSpPr txBox="1"/>
          <p:nvPr/>
        </p:nvSpPr>
        <p:spPr>
          <a:xfrm>
            <a:off x="2737450" y="2555724"/>
            <a:ext cx="116169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RNA-FM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D4EDFB-1B5A-5F83-579B-E798578B2F46}"/>
              </a:ext>
            </a:extLst>
          </p:cNvPr>
          <p:cNvCxnSpPr>
            <a:cxnSpLocks/>
          </p:cNvCxnSpPr>
          <p:nvPr/>
        </p:nvCxnSpPr>
        <p:spPr>
          <a:xfrm flipV="1">
            <a:off x="2369389" y="2737580"/>
            <a:ext cx="345056" cy="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299A64F-1FD6-8F72-5AB5-F6EBEE049F8C}"/>
              </a:ext>
            </a:extLst>
          </p:cNvPr>
          <p:cNvSpPr txBox="1"/>
          <p:nvPr/>
        </p:nvSpPr>
        <p:spPr>
          <a:xfrm>
            <a:off x="500332" y="2281535"/>
            <a:ext cx="186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(582,</a:t>
            </a:r>
            <a:r>
              <a:rPr lang="zh-CN" altLang="en-US" dirty="0"/>
              <a:t> </a:t>
            </a:r>
            <a:r>
              <a:rPr lang="en-US" altLang="zh-CN" dirty="0"/>
              <a:t>L), each node contains a token vocab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CEF7F-6C5D-5907-DFE8-59B96B34D8B9}"/>
              </a:ext>
            </a:extLst>
          </p:cNvPr>
          <p:cNvSpPr txBox="1"/>
          <p:nvPr/>
        </p:nvSpPr>
        <p:spPr>
          <a:xfrm>
            <a:off x="4267201" y="2562468"/>
            <a:ext cx="186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(582,</a:t>
            </a:r>
            <a:r>
              <a:rPr lang="zh-CN" altLang="en-US" dirty="0"/>
              <a:t> </a:t>
            </a:r>
            <a:r>
              <a:rPr lang="en-US" altLang="zh-CN" dirty="0"/>
              <a:t>L+2,</a:t>
            </a:r>
            <a:r>
              <a:rPr lang="zh-CN" altLang="en-US" dirty="0"/>
              <a:t> </a:t>
            </a:r>
            <a:r>
              <a:rPr lang="en-US" altLang="zh-CN" dirty="0"/>
              <a:t>640)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3F7FB3-44E0-D233-8139-99E28A553017}"/>
              </a:ext>
            </a:extLst>
          </p:cNvPr>
          <p:cNvCxnSpPr>
            <a:cxnSpLocks/>
          </p:cNvCxnSpPr>
          <p:nvPr/>
        </p:nvCxnSpPr>
        <p:spPr>
          <a:xfrm flipV="1">
            <a:off x="3922145" y="2740390"/>
            <a:ext cx="414068" cy="6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5FC459-E25B-CCFD-FA74-5AFF8178169C}"/>
              </a:ext>
            </a:extLst>
          </p:cNvPr>
          <p:cNvCxnSpPr/>
          <p:nvPr/>
        </p:nvCxnSpPr>
        <p:spPr>
          <a:xfrm>
            <a:off x="5952226" y="2737580"/>
            <a:ext cx="3105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3532B4-B90B-92B6-57CF-17A0F224E498}"/>
              </a:ext>
            </a:extLst>
          </p:cNvPr>
          <p:cNvSpPr txBox="1"/>
          <p:nvPr/>
        </p:nvSpPr>
        <p:spPr>
          <a:xfrm>
            <a:off x="6395046" y="2285469"/>
            <a:ext cx="155275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Mean pooling (or other ways TBD)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0C7F4-CA52-D68B-375F-A58E7201028F}"/>
              </a:ext>
            </a:extLst>
          </p:cNvPr>
          <p:cNvSpPr txBox="1"/>
          <p:nvPr/>
        </p:nvSpPr>
        <p:spPr>
          <a:xfrm>
            <a:off x="8034070" y="2562468"/>
            <a:ext cx="1869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(582,</a:t>
            </a:r>
            <a:r>
              <a:rPr lang="zh-CN" altLang="en-US" dirty="0"/>
              <a:t> </a:t>
            </a:r>
            <a:r>
              <a:rPr lang="en-US" altLang="zh-CN" dirty="0"/>
              <a:t>640)</a:t>
            </a:r>
          </a:p>
          <a:p>
            <a:r>
              <a:rPr lang="en-US" dirty="0"/>
              <a:t>+ corresponding </a:t>
            </a:r>
            <a:r>
              <a:rPr lang="en-US" altLang="zh-CN" dirty="0"/>
              <a:t>ln</a:t>
            </a:r>
            <a:r>
              <a:rPr lang="en-US" dirty="0"/>
              <a:t>(Ts) or Ts values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888A4C-0E61-47CB-B1FA-B6986DB0BC2B}"/>
              </a:ext>
            </a:extLst>
          </p:cNvPr>
          <p:cNvCxnSpPr/>
          <p:nvPr/>
        </p:nvCxnSpPr>
        <p:spPr>
          <a:xfrm>
            <a:off x="9210136" y="2727137"/>
            <a:ext cx="3105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260F82-C9DF-355C-DC8F-6154A774FA64}"/>
              </a:ext>
            </a:extLst>
          </p:cNvPr>
          <p:cNvSpPr txBox="1"/>
          <p:nvPr/>
        </p:nvSpPr>
        <p:spPr>
          <a:xfrm>
            <a:off x="9644335" y="2542471"/>
            <a:ext cx="9000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head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2DECBA-0F96-89DC-8547-F7BA7BC275B0}"/>
              </a:ext>
            </a:extLst>
          </p:cNvPr>
          <p:cNvSpPr/>
          <p:nvPr/>
        </p:nvSpPr>
        <p:spPr>
          <a:xfrm>
            <a:off x="8034070" y="1679275"/>
            <a:ext cx="3134262" cy="26454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8FF7E0-64A6-31EC-3F4D-797AEA426F42}"/>
              </a:ext>
            </a:extLst>
          </p:cNvPr>
          <p:cNvSpPr txBox="1"/>
          <p:nvPr/>
        </p:nvSpPr>
        <p:spPr>
          <a:xfrm>
            <a:off x="8134710" y="1167475"/>
            <a:ext cx="186905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normal train-test split 10 fold CV and train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D65652-1AAC-DBD4-69DE-5594F8B6D397}"/>
              </a:ext>
            </a:extLst>
          </p:cNvPr>
          <p:cNvSpPr txBox="1"/>
          <p:nvPr/>
        </p:nvSpPr>
        <p:spPr>
          <a:xfrm>
            <a:off x="382437" y="518871"/>
            <a:ext cx="186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Probing plan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B5A839-43CD-7E98-2C05-7015B870AE14}"/>
              </a:ext>
            </a:extLst>
          </p:cNvPr>
          <p:cNvSpPr txBox="1"/>
          <p:nvPr/>
        </p:nvSpPr>
        <p:spPr>
          <a:xfrm>
            <a:off x="557839" y="3660910"/>
            <a:ext cx="61535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one-hot + ridge (floor)</a:t>
            </a:r>
          </a:p>
          <a:p>
            <a:r>
              <a:rPr lang="en-US" dirty="0"/>
              <a:t>16 hand-crafted features  + ridge (same head, controlled)</a:t>
            </a:r>
          </a:p>
          <a:p>
            <a:r>
              <a:rPr lang="en-US" dirty="0"/>
              <a:t>RNA-FM + ridge (this diagram)</a:t>
            </a:r>
          </a:p>
          <a:p>
            <a:r>
              <a:rPr lang="en-US" dirty="0"/>
              <a:t>hand-crafted + </a:t>
            </a:r>
            <a:r>
              <a:rPr lang="en-US" dirty="0" err="1"/>
              <a:t>XGBoost</a:t>
            </a:r>
            <a:r>
              <a:rPr lang="en-US" dirty="0"/>
              <a:t> (incumbent at full strength)</a:t>
            </a:r>
          </a:p>
          <a:p>
            <a:endParaRPr lang="en-US" dirty="0"/>
          </a:p>
          <a:p>
            <a:r>
              <a:rPr lang="en-US" altLang="zh-CN" dirty="0"/>
              <a:t>Windows: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90 </a:t>
            </a:r>
            <a:r>
              <a:rPr lang="en-US" altLang="zh-CN" dirty="0" err="1"/>
              <a:t>nt</a:t>
            </a:r>
            <a:r>
              <a:rPr lang="en-US" altLang="zh-CN" dirty="0"/>
              <a:t> upstream of transcription termination site (TTS)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90 </a:t>
            </a:r>
            <a:r>
              <a:rPr lang="en-US" dirty="0" err="1"/>
              <a:t>nt</a:t>
            </a:r>
            <a:r>
              <a:rPr lang="en-US" dirty="0"/>
              <a:t> upstream + 19 </a:t>
            </a:r>
            <a:r>
              <a:rPr lang="en-US" dirty="0" err="1"/>
              <a:t>nt</a:t>
            </a:r>
            <a:r>
              <a:rPr lang="en-US" dirty="0"/>
              <a:t> downstream of TTS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FCA656-04BB-F65F-1C55-E14C5684CF99}"/>
              </a:ext>
            </a:extLst>
          </p:cNvPr>
          <p:cNvSpPr txBox="1"/>
          <p:nvPr/>
        </p:nvSpPr>
        <p:spPr>
          <a:xfrm>
            <a:off x="7410503" y="4905651"/>
            <a:ext cx="4057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 lot Ts &lt; 1, which should not exist probably because experiment error. So TE &amp; logit(TE) cannot be used for training. So decide to use l</a:t>
            </a:r>
            <a:r>
              <a:rPr lang="en-US" altLang="zh-CN" dirty="0"/>
              <a:t>n</a:t>
            </a:r>
            <a:r>
              <a:rPr lang="en-US" dirty="0"/>
              <a:t>(Ts), might also to try Ts to compare with K paper.</a:t>
            </a:r>
          </a:p>
        </p:txBody>
      </p:sp>
    </p:spTree>
    <p:extLst>
      <p:ext uri="{BB962C8B-B14F-4D97-AF65-F5344CB8AC3E}">
        <p14:creationId xmlns:p14="http://schemas.microsoft.com/office/powerpoint/2010/main" val="16210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16CEE-8585-B81F-5AC7-F1F3B4E54390}"/>
              </a:ext>
            </a:extLst>
          </p:cNvPr>
          <p:cNvSpPr txBox="1"/>
          <p:nvPr/>
        </p:nvSpPr>
        <p:spPr>
          <a:xfrm>
            <a:off x="382437" y="518871"/>
            <a:ext cx="186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RNA-FM</a:t>
            </a:r>
          </a:p>
        </p:txBody>
      </p:sp>
    </p:spTree>
    <p:extLst>
      <p:ext uri="{BB962C8B-B14F-4D97-AF65-F5344CB8AC3E}">
        <p14:creationId xmlns:p14="http://schemas.microsoft.com/office/powerpoint/2010/main" val="89939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7952D8-E17F-B61C-326B-8C7B374CC2E3}"/>
              </a:ext>
            </a:extLst>
          </p:cNvPr>
          <p:cNvSpPr txBox="1"/>
          <p:nvPr/>
        </p:nvSpPr>
        <p:spPr>
          <a:xfrm>
            <a:off x="396814" y="358827"/>
            <a:ext cx="8689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(suggested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 err="1"/>
              <a:t>claude</a:t>
            </a:r>
            <a:r>
              <a:rPr lang="en-US" altLang="zh-CN" dirty="0"/>
              <a:t> on doing test on the embedding)</a:t>
            </a:r>
            <a:endParaRPr lang="en-US" dirty="0"/>
          </a:p>
          <a:p>
            <a:r>
              <a:rPr lang="en-US" dirty="0"/>
              <a:t>From the saved per-token arrays, build these representations, each (582, D):</a:t>
            </a:r>
          </a:p>
          <a:p>
            <a:endParaRPr lang="en-US" dirty="0"/>
          </a:p>
          <a:p>
            <a:r>
              <a:rPr lang="en-US" dirty="0"/>
              <a:t>A. RNA-FM layer 12, mean over positions 1..L (exclude &lt;</a:t>
            </a:r>
            <a:r>
              <a:rPr lang="en-US" dirty="0" err="1"/>
              <a:t>cls</a:t>
            </a:r>
            <a:r>
              <a:rPr lang="en-US" dirty="0"/>
              <a:t>&gt; and &lt;</a:t>
            </a:r>
            <a:r>
              <a:rPr lang="en-US" dirty="0" err="1"/>
              <a:t>eos</a:t>
            </a:r>
            <a:r>
              <a:rPr lang="en-US" dirty="0"/>
              <a:t>&gt;) -&gt; (582, 640)</a:t>
            </a:r>
          </a:p>
          <a:p>
            <a:r>
              <a:rPr lang="en-US" dirty="0"/>
              <a:t>B. RNA-FM layer 12, &lt;</a:t>
            </a:r>
            <a:r>
              <a:rPr lang="en-US" dirty="0" err="1"/>
              <a:t>cls</a:t>
            </a:r>
            <a:r>
              <a:rPr lang="en-US" dirty="0"/>
              <a:t>&gt; vector only (position 0)                     -&gt; (582, 640)</a:t>
            </a:r>
          </a:p>
          <a:p>
            <a:r>
              <a:rPr lang="en-US" dirty="0"/>
              <a:t>C. RNA-FM layer 6, mean-pooled                                          -&gt; (582, 640)</a:t>
            </a:r>
          </a:p>
          <a:p>
            <a:r>
              <a:rPr lang="en-US" dirty="0"/>
              <a:t>D. RNA-FM layer 9, mean-pooled                                          -&gt; (582, 640)</a:t>
            </a:r>
          </a:p>
          <a:p>
            <a:r>
              <a:rPr lang="en-US" dirty="0"/>
              <a:t>E. One-hot of the window, flattened                                     -&gt; (582, L*4)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60795-5FA0-A852-D78B-4CCD3E9CEA53}"/>
              </a:ext>
            </a:extLst>
          </p:cNvPr>
          <p:cNvSpPr txBox="1"/>
          <p:nvPr/>
        </p:nvSpPr>
        <p:spPr>
          <a:xfrm>
            <a:off x="506083" y="3899140"/>
            <a:ext cx="6602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Brief summary:</a:t>
            </a:r>
          </a:p>
          <a:p>
            <a:r>
              <a:rPr lang="en-US" dirty="0"/>
              <a:t>RNA-FM layer 12 mean pooling + </a:t>
            </a:r>
            <a:r>
              <a:rPr lang="en-US" dirty="0" err="1"/>
              <a:t>ridgeCV</a:t>
            </a:r>
            <a:r>
              <a:rPr lang="en-US" dirty="0"/>
              <a:t> + </a:t>
            </a:r>
            <a:r>
              <a:rPr lang="en-US" dirty="0" err="1"/>
              <a:t>logTs</a:t>
            </a:r>
            <a:r>
              <a:rPr lang="en-US" dirty="0"/>
              <a:t> can get to </a:t>
            </a:r>
          </a:p>
        </p:txBody>
      </p:sp>
    </p:spTree>
    <p:extLst>
      <p:ext uri="{BB962C8B-B14F-4D97-AF65-F5344CB8AC3E}">
        <p14:creationId xmlns:p14="http://schemas.microsoft.com/office/powerpoint/2010/main" val="382229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13286</TotalTime>
  <Words>298</Words>
  <Application>Microsoft Office PowerPoint</Application>
  <PresentationFormat>Widescreen</PresentationFormat>
  <Paragraphs>31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音 泠</dc:creator>
  <cp:lastModifiedBy>音 泠</cp:lastModifiedBy>
  <cp:revision>2</cp:revision>
  <dcterms:created xsi:type="dcterms:W3CDTF">2026-09-01T05:05:51Z</dcterms:created>
  <dcterms:modified xsi:type="dcterms:W3CDTF">2026-09-25T05:26:57Z</dcterms:modified>
</cp:coreProperties>
</file>